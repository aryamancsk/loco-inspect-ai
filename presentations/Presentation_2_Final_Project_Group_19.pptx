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188720"/>
            <a:ext cx="182880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LOCO-Inspect AI: Multi-Category Industrial Visual Anomaly Detection &amp; Defect Localization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3C5FD"/>
                </a:solidFill>
                <a:latin typeface="Segoe UI"/>
              </a:defRPr>
            </a:pPr>
            <a:r>
              <a:t>Graduate Certificate in Pattern Recognition Systems — Technical Final Defense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Candidate: Aryaman Srimali Jain | Group Number: 19</a:t>
            </a:r>
            <a:br/>
            <a:r>
              <a:t>National University of Singapore • Institute of Systems Science (NUS-ISS)</a:t>
            </a:r>
            <a:br/>
            <a:r>
              <a:t>Graduate Certificate in Pattern Recognition Systems (Practice Module Technical Defense)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1. Mathematical Formulation &amp;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2/18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Unsupervised Open-Set Formulation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Problem Space: Input space X in R^{H x W x C}. Normality manifold M = {x in X | p_nom(x) &gt; theta_0}.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Training Distribution: Learn support supp(p_nom) purely from defect-free nominal images D_train without peeking at anomaly set 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Inference Objective: Compute distance metric s(x) = inf_{m in M} d(phi(x), phi(m)) to determine anomaly decision y in {0, 1}.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Zero-Defect Escape Requirement: High-sensitivity calibration guaranteeing Recall &gt;= 95% on mission-critical manufacturing 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System Pipeline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Backbone: WideResNet-50-2 tapping intermediate multi-scale feature hierarchies (Layers 2 &amp; 3).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Feature Manifold: Concatenated patch representation generating 784 localized vectors of R^{1536} per image.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Compression Engine: Johnson-Lindenstrauss Random Projection (128-D) + Greedy Minimax Coreset Subsampling (10%).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Execution Speed: Chunked GPU TorchNN search running at ~85 ms per frame (11.8 FPS) on NVIDIA RTX 5070.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2. Structural vs. Logical Anomaly Formalisms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3/18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Structural Anomaly Formulation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Physical Defect Model: Localized high-frequency perturbation x_tilde = x + delta where supp(delta) is compact.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Manifestations: Scratches, cracks, punctures, contamination, and structural material deformities.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Manifold Property: Perturbs local patch feature vector p_i outside the nominal patch manifold M_p.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Detection Mechanism: Readily flagged by nearest-neighbor Euclidean distance in deep feature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Logical Anomaly Formulation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Relational Rule Model: Represent product as a spatial graph G = (V, E) of components and spatial relations.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Manifestations: Missing parts (e.g., label), quantity violations (screw counts), inverted orientations, wrong locations.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Manifold Property: Individual patches p_i remain inside nominal patch manifold M_p; violation occurs in relational topology 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The Core Challenge: Pure permutation-invariant nearest-neighbor visual search is blind to global relational topology.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3. Deep Representation: Multi-Scale Patch Embedding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4/18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WideResNet-50-2 Hierarchical Feature Tapping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Input Preprocessing: Standardization to 256x256x3, center-crop, ImageNet tensor normalization (mu, sigma).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Layer 2 Activations: Spatial dimension 28x28 with 512 channels. Effective receptive field RF ~ 39x39 px.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Layer 3 Activations: Spatial dimension 14x14 with 1,024 channels. Effective receptive field RF ~ 79x79 px.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Dual-Scale Advantage: Layer 2 captures high-frequency edge textures; Layer 3 encodes macroscopic object part semantics.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Spatial Alignment &amp; Concatenation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Bilinear / Adaptive Upsampling: Layer 3 tensor (B, 1024, 14, 14) is upsampled to match Layer 2 grid (B, 1024, 28, 28).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Channel-wise Concatenation: Produces unified feature tensor phi(x) in R^{B x 1536 x 28 x 28}.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Spatial Patch Tokenization: Unfolded into 784 localized patch tokens P = {p_i in R^{1536} | i = 1, ..., 784}.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Zero Training Backpropagation: Pretrained weights frozen; deterministic, reproducible inference encoder.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4. Dimensionality Reduction: Johnson-Lindenstrauss 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5/18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Mathematical Formulation &amp; Metric Preservation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JL Lemma: For any eps in (0, 1) and n vectors in R^D, there exists linear map Psi: R^D -&gt; R^d (d = O(eps^{-2} log n)) such that: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(1 - eps) ||u - v||_2^2 &lt;= ||Psi u - Psi v||_2^2 &lt;= (1 + eps) ||u - v||_2^2 for all u, v in P.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Sparse Random Matrix: Entries Psi_{i,j} sampled from Achlioptas distribution: +sqrt(3) with p=1/6, 0 with p=2/3, -sqrt(3) with p=1/6.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Compression Ratio: Reduces patch vector dimension from 1,536 down to 128 (12x compression) while bounding distance distortion.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Computational Complexity Impact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Pairwise Distance FLOPs: Scaled from 1,536 multiplications per pair down to 128 FLOPs during coreset candidate evaluation.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Random Projection Speed: Implemented via dense GPU matrix multiplication Psi @ X^T in &lt;1.2 seconds for 343,000 vectors.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Zero Accuracy Degradation: Preserves the relative ranking of k-nearest neighbors with &gt;99.4% rank fidelity.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5. Algorithmic Innovation: Minimax Coreset Subsampling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6/18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Minimax Facility Location Formulation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Optimization Objective: Find subset S* subset M with |S*| = k that minimizes the maximum coverage radius: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S* = argmin_{S subset M, |S|=k} max_{x in M} min_{s in S} ||Psi x - Psi s||_2.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NP-Hard Problem: Solved via greedy 2-approximation iterative farthest-point sampling.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Initialization: s_1 chosen uniformly at random from nominal patch collection 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Iterative Greedy Algorithm &amp; Compression Ratio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Step t+1: Select s_{t+1} = argmax_{x in M} min_{s in S_t} ||Psi x - Psi s||_2 until |S| = 0.10 * |M|.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Memory Bank Reduction: Compresses 343,000+ normal patches down to 34,304 prototypes (90% reduction).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RAM Footprint: Decreases uncompressed memory bank size from 2.1 GB to 210 MB.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Empirical Validation: Zero loss in detection accuracy (Juice Bottle Image ROC-AUC remains identical at 0.896).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6. Parametric Statistical Modeling: PaDiM Gaussian Estimator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7/18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Coordinate-Specific Gaussian Formulation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Local Parametric Prior: At each spatial patch location (i, j) in [1, 28] x [1, 28], fit a multivariate Gaussian N(mu_{i,j}, Sigma_{i,j}).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Sample Mean Vector: hat{mu}_{i,j} = (1 / N) * sum_{k=1}^N p_{i,j}^{(k)} in R^{1536}.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Sample Covariance Matrix: hat{Sigma}_{i,j} = (1 / (N - 1)) * sum_{k=1}^N (p_{i,j}^{(k)} - hat{mu})(p_{i,j}^{(k)} - hat{mu})^T.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Covariance Regularization: Adds Tikhonov stabilizer (Sigma + eps * I) with eps = 0.01 to ensure non-singular invertibility.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Localized Mahalanobis Distance Metric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Inference Score: d_M(p_{i,j}) = sqrt((p_{i,j} - hat{mu}_{i,j})^T (hat{Sigma}_{i,j} + eps * I)^{-1} (p_{i,j} - hat{mu}_{i,j})).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Coordinate Anchoring: Explicitly tests whether a patch deviates from nominal statistics at that exact physical coordinate.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Comparative Finding: While computationally fast, PaDiM exhibits high sensitivity to mechanical jitter and conveyor vibration.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PatchCore Dominance: PatchCore's permutation-invariant memory bank achieves higher generalizability (+0.084 ROC-AUC).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7. Inference Engine: Chunked GPU TorchNN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8/18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Euclidean Distance Decomposition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Distance Identity: ||u - v||^2 = ||u||^2 + ||v||^2 - 2 * u^T v.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Precomputation: Precompute nominal norms ||m_j||^2 in R^{34304}; query norm ||p_i||^2 computed on-the-fly.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Matrix Multiplication: Core computational cost reduced to single batched GEMM: -2 * P @ M^T via NVIDIA Tensor Cores.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Chunked Query Streaming: Queries processed in chunks of 256 patches to bound peak GPU VRAM allocation under 350 MB.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High-Throughput Latency Profile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GPU Search Time: 784 test patches queried against 34,304 prototype vectors in 18.4 ms on NVIDIA RTX 5070.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Full Pipeline Latency: Preprocessing (8ms) + WideResNet (38ms) + TorchNN (18ms) + Heatmap (15ms) = ~85 ms (11.8 FPS).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CPU Baseline Comparison: Intel Core Ultra 7 CPU executes same pipeline in ~340 ms (4x GPU speedup).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Industrial Capacity: Sub-100ms round-trip comfortably supports high-speed packaging conveyors at 700 parts/min.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8. Spatial Anomaly Map Generation, Upsampling &amp; Smoothing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9/18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Pixel-Level Heatmap Synthesis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Patch Distance Map: Array of 784 patch scores reshaped to 2D spatial anomaly grid D in R^{28 x 28}.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Bi-Cubic Spline Upsampling: Interpolates grid D up to native image resolution D_up in R^{256 x 256}.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2D Gaussian Kernel Convolution: A(x, y) = (G_sigma * D_up)(x, y) where G_sigma is Gaussian kernel with sigma = 4.0.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Noise Suppression: Eliminates spurious single-pixel sensor noise while preserving macroscopic defect contours.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Image-Level Anomaly Score Aggregation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Top-k Softmax Weighting: Rather than taking noisy argmax, aggregate top-k patches: s(X) = (1/k) * sum_{i=1}^k d_{(i)}.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Receptive Field Normalization: Aggregation parameter k=9 corresponds to spatial area of ~1 receptive field.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Z-Score Standardization: z = (s(X) - mu_val) / sigma_val for cross-category decision comparability.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Localization AUROC: Achieved 0.872 pixel-level localization AUROC on the MVTec LOCO AD Juice Bottle benchmark.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9. Statistical Decision Boundary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10/18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Neyman-Pearson Risk Formulation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Zero Defect Exposure: Detection threshold tau calibrated exclusively on defect-free validation split D_val.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Statistical Threshold Model: tau_k = mu_val + k * sigma_val, where mu_val, sigma_val are sample moments of nominal scores.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Multi-Point Operating Envelope: Formulated 3 distinct industrial operating points to align with risk appetite.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ROC &amp; PR Integration: Threshold sweeps evaluate full Precision-Recall and False Positive Rate curves.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Quantitative Operational Operating Points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1. High Sensitivity (k = 1.0, tau = 0.285): Recall = 96.2%, Precision = 78.4%. Zero defect escapes for medical/aerospace lines.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2. Optimal F1 Point (k = 2.1, tau = 0.312): Recall = 88.0%, Precision = 87.5%, F1 = 87.7%. Balanced automated production.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3. Conservative Point (k = 3.0, tau = 0.354): Recall = 46.6%, Precision = 99.1%. False Alarm Rate &lt; 0.9% for screening.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Dynamic Recalibration: Operating thresholds adjusted via runtime API payload without retraining model weights.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10. Multi-Category Empirical 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11/18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MVTec LOCO AD 5-Category Performance Matrix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Juice Bottle (Primary): Image ROC-AUC: 0.896 | PR-AUC: 0.941 | Pixel AUROC: 0.872 | Optimal F1: 0.877.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Hardware Screw Bag: Image ROC-AUC: 0.878 | PR-AUC: 0.912 | Optimal F1: 0.854.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Pushpins Box: Image ROC-AUC: 0.865 | PR-AUC: 0.895 | Optimal F1: 0.841.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Splicing Connectors: Image ROC-AUC: 0.861 | PR-AUC: 0.884 | Optimal F1: 0.838.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Breakfast Box: Image ROC-AUC: 0.842 | PR-AUC: 0.880 | Optimal F1: 0.825.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Cross-Category Generalization Insights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Mean Image ROC-AUC: 0.868 across diverse domains (liquid bottling, rigid plastic, loose metal fasteners).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Robust Localization: Pixel AUROC &gt; 0.85 across all categories with precise bounding box enclosure.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Dominant Failure Modes: Heavily clustered in logical categories involving complex spatial counting constraints.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11. Theoretical Analysis: The 'Logical Anomaly Gap'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12/18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Mathematical Cause of the Detection Disparity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Empirical Gap: Structural Recall = 53.0% vs Logical Recall = 21.8% at conservative threshold tau = mu + 3*sigma (31.2% gap).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Permutation Invariance Proof: The nearest-neighbor distance operator d(p_i) = min_{m in M} ||p_i - m||_2 is invariant to spatial coordinate (x_i, y_i).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Missing Part Paradox: When a label is missing, the bare bottle glass patch matches normal glass elsewhere in the memory bank.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Result: Local patch anomaly score is ~0.0 despite the product violating a global logical assembly rule.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Architectural Solutions to Bridge the Gap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1. Spatial Coordinate Conditioning: Appending normalized (x/W, y/H) coordinates to patch embeddings p_tilde = [p_i; gamma * c_i].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2. Dual-Threshold Decision Engine: Calibrating separate thresholds for high-frequency structural vs low-frequency logical defects.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3. Relational Graph Neural Networks (Future): Formulating spatial relation edges e_{i,j} to model global component topology.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12. Ablation Studies &amp; Comparative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13/18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Backbone &amp; Feature Extraction Ablation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ResNet-18 (Baseline): Image ROC-AUC = 0.812 | Uncompressed RAM = 1.1 GB | Inference = 42 ms.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WideResNet-50-2 (Layer 2 Only): Image ROC-AUC = 0.841 | Captures fine texture, misses high-level structures.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WideResNet-50-2 (Layer 3 Only): Image ROC-AUC = 0.856 | Captures global layout, misses micro-scratches.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WideResNet-50-2 (Layer 2 + Layer 3 Concatenated): Image ROC-AUC = 0.896 | Optimal multi-scale representation.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Coreset Subsampling Ratio Ablation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100% Uncompressed (343k patches): ROC-AUC = 0.896 | RAM = 2.1 GB | Latency = 2,400 ms (Unviable in production).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10% Greedy Coreset (34k patches): ROC-AUC = 0.896 | RAM = 210 MB | Latency = 85 ms (Ideal Operating Point).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1% Greedy Coreset (3.4k patches): ROC-AUC = 0.852 | RAM = 21 MB | Latency = 14 ms (Severe accuracy drop).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10% Uniform Random Subsampling: ROC-AUC = 0.881 | Subsampling without minimax facility location loses defect boundary prototypes.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13. Defect Localization &amp; Bounding Box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14/18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Pixel-Level Segmentation Algorithm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Binarization: Apply localized segmentation threshold: M(x, y) = 1 if A(x, y) &gt;= tau_{loc} else 0.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Morphological Filtering: Sequential morphological opening (kernel 3x3) and closing (kernel 5x5) to eliminate isolated sensor noise.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Connected Component Labeling (CCL): Two-pass CCL identifies distinct anomaly blobs and computes spatial component statistics.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Component Saliency: Filter out components with pixel area &lt; 15 pixels to prevent false positive micro-alarms.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Automated Bounding Box Extraction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Coordinate Regression: Calculate bounding box coordinates enclosing the peak anomaly component: (x_min, y_min, w, h).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Confidence Tagging: Component confidence c = max_{(x,y) in C_k} A(x, y) overlaid on diagnostic UI.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Localization Accuracy: Achieves &gt;88% Intersection-over-Union (IoU) with ground truth structural defect masks.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Interactive Inspection: Coordinates serialized to JSON API response for real-time frontend canvas rendering.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14. Full-Stack Concurrency &amp;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15/18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Thread-Safety &amp; Race Condition Prevention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The Concurrency Hazard: PyTorch forward hooks register intermediate activations globally; concurrent API requests overwrite hook state.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Mutex Synchronization: Implemented threading.Lock() around model forward pass, ensuring thread-safe execution in FastAPI async workers.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Defensive Memory Management: Explicit torch.cuda.empty_cache() and garbage collection prevent VRAM fragmentation.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Windows Smart App Control Compliance: Avoided unverified native DLL binaries by implementing pure Python cryptographic routines.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Asynchronous Backend &amp; Persistent Storage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FastAPI Asynchronous Microservice: Non-blocking I/O event loop handling /api/inspect, /api/auth, /api/history.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Cryptographic Security: SQLite database (inspector.db) with PBKDF2-HMAC-SHA256 password hashing and salt.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Audit Trail Logging: Persistent logging of inspection timestamps, category, z-scores, decision flags, and execution latency.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Zero External Cloud Dependencies: 100% on-premises offline capability ensuring strict enterprise data security.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15. Explainable AI: 4-View Visual Diagnostic HMI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16/18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4-View Visual Diagnostic Decomposition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View 1: Original High-Resolution RGB Ingestion Frame (256x256 native display).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View 2: Pinpointed Bounding Box tagging the highest-confidence defect region with coordinate labels.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View 3: Jet Thermal Colormap illustrating continuous pixel-level anomaly intensity (0.0 to 1.0).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View 4: Alpha-Blended Overlay merging heatmap with physical part (alpha=0.45) for instant human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End-to-End Latency Budget Breakdown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1. Image Ingestion &amp; Tensor Normalization: 8.2 ms.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2. WideResNet-50-2 Multi-Scale Feature Extraction: 38.6 ms.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3. Chunked GPU TorchNN Nearest-Neighbor Search: 18.4 ms.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4. Spatial Interpolation &amp; 2D Gaussian Smoothing: 15.1 ms.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5. Total End-to-End Pipeline Latency: 80.3 ms (~12.4 FPS on NVIDIA RTX 5070 GPU).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16. Hardware Scaling &amp; Profiling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17/18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Hardware Compute Benchmarks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Intel Core Ultra 7 258V (CPU Only): Latency = 342 ms | Throughput = 2.9 FPS | Memory = 420 MB RAM.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NVIDIA RTX 5070 Laptop GPU (Full FP32): Latency = 125 ms | Throughput = 8.0 FPS | Memory = 650 MB VRAM.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NVIDIA RTX 5070 Laptop GPU (Chunked TorchNN): Latency = 85 ms | Throughput = 11.8 FPS | Memory = 380 MB VRAM.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Efficiency Gain: Chunked tensor execution reduces peak VRAM allocation by 41.5% with 1.47x speedup.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Industrial Deployment Feasibility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Production Line Integration: Easily handles standard packaging conveyor speeds (300 - 700 parts per minute).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Edge Device Compatibility: Modest 380 MB VRAM footprint enables deployment on compact edge AI devices (NVIDIA Jetson Orin).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Energy Efficiency: Average GPU power draw under inference load: ~38 Watts.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89611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17. Conclusion &amp; Future Technical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0116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Segoe UI"/>
              </a:defRPr>
            </a:pPr>
            <a:r>
              <a:t>NUS-ISS | Group 19</a:t>
            </a:r>
            <a:br/>
            <a:r>
              <a:t>Technical Slide 18/18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17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66CC"/>
                </a:solidFill>
                <a:latin typeface="Segoe UI"/>
              </a:defRPr>
            </a:pPr>
            <a:r>
              <a:t>Key Technical Contributions Delivered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1. Multi-scale feature representation tapping WideResNet Layers 2 &amp; 3 (1,536-D patch tokens).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2. 90% memory bank compression via Greedy Minimax Coreset Subsampling with zero loss in ROC-AUC (0.896).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3. GPU-accelerated chunked TorchNN engine achieving real-time inference latency of ~85 ms (11.8 FPS).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4. Uncovered, formalized, and empirically quantified the 'Logical Anomaly Gap' in nearest-neighbor visual search.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5. Production-grade full-stack web application with thread-safe execution locks and 4-panel visual diagnostic explainability.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19379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451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D9488"/>
                </a:solidFill>
                <a:latin typeface="Segoe UI"/>
              </a:defRPr>
            </a:pPr>
            <a:r>
              <a:t>Future Architectural Roadmap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Relational Graph Neural Networks (GNNs): Explicitly modeling spatial constraint edges to eliminate the Logical Anomaly Gap.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Vision Transformer (ViT) Backbones: Leveraging global self-attention to encode long-range inter-component dependencies.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Multi-Modal Sensor Integration: Transferring coreset distance scoring to high-frequency industrial vibration and thermal telemetry.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NUS-ISS Graduate Certificate in Pattern Recognition Systems (PRS) • Technical Defense • Group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